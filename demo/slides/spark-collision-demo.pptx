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homepage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70485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2026 上海 Hackathon · 概念演示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952625"/>
            <a:ext cx="1047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7600" b="1">
                <a:solidFill>
                  <a:srgbClr val="EAF1EC"/>
                </a:solidFill>
                <a:latin typeface="Arial"/>
                <a:ea typeface="Hiragino Sans GB"/>
              </a:rPr>
              <a:t>智慧火花碰撞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66750" y="3009900"/>
            <a:ext cx="1047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6900" b="1">
                <a:solidFill>
                  <a:srgbClr val="BDF36D"/>
                </a:solidFill>
                <a:latin typeface="Arial"/>
                <a:ea typeface="Hiragino Sans GB"/>
              </a:rPr>
              <a:t>对话结束，认知继续。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4762500"/>
            <a:ext cx="10001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让分散的交流成为有依据、有条件、有历史的项目记忆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5972175"/>
            <a:ext cx="95250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>
                <a:solidFill>
                  <a:srgbClr val="A6B8BC"/>
                </a:solidFill>
                <a:latin typeface="Arial"/>
                <a:ea typeface="Hiragino Sans GB"/>
              </a:rPr>
              <a:t>静态网页与合成案例 · 分析引擎尚在开发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01 / 场景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81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900" b="1">
                <a:solidFill>
                  <a:srgbClr val="EAF1EC"/>
                </a:solidFill>
                <a:latin typeface="Arial"/>
                <a:ea typeface="Hiragino Sans GB"/>
              </a:rPr>
              <a:t>与 100 人交流之后，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66750" y="21717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900" b="1">
                <a:solidFill>
                  <a:srgbClr val="BDF36D"/>
                </a:solidFill>
                <a:latin typeface="Arial"/>
                <a:ea typeface="Hiragino Sans GB"/>
              </a:rPr>
              <a:t>我们究竟学到了什么？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85800" y="3838575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大家真正表达的关注点是什么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85800" y="4552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原因与分歧分别来自哪些原话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85800" y="5267325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哪些判断因新讨论而改变了适用条件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85800" y="62960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“100 人”是产品使用情境示例，不代表现有用户数据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02 / 工作方式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04925"/>
            <a:ext cx="10763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4900" b="1">
                <a:solidFill>
                  <a:srgbClr val="EAF1EC"/>
                </a:solidFill>
                <a:latin typeface="Arial"/>
                <a:ea typeface="Hiragino Sans GB"/>
              </a:rPr>
              <a:t>让每次发言连接到智慧点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714375" y="27051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01  原话与来源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714375" y="3267075"/>
            <a:ext cx="97155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保留记录、发言人、段落定位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714375" y="40386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02  关系与条件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714375" y="4600575"/>
            <a:ext cx="101917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识别支持、质疑、反例、补充及适用场景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714375" y="53721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03  判断与版本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714375" y="5934075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新信息修正认识；旧版本和证据仍可查看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03 / 合成案例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266825"/>
            <a:ext cx="10668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300" b="1">
                <a:solidFill>
                  <a:srgbClr val="EAF1EC"/>
                </a:solidFill>
                <a:latin typeface="Arial"/>
                <a:ea typeface="Hiragino Sans GB"/>
              </a:rPr>
              <a:t>同一话题，不同条件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95325" y="240030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R1  “报价需要人工确认”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31337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R2  “跨区报价需要销售确认”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38671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R3  “目录价且无折扣，可直接发送”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95325" y="4991100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 b="1">
                <a:solidFill>
                  <a:srgbClr val="7BD9D2"/>
                </a:solidFill>
                <a:latin typeface="Arial"/>
                <a:ea typeface="Hiragino Sans GB"/>
              </a:rPr>
              <a:t>判断变化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95325" y="54197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>
                <a:solidFill>
                  <a:srgbClr val="A6B8BC"/>
                </a:solidFill>
                <a:latin typeface="Arial"/>
                <a:ea typeface="Hiragino Sans GB"/>
              </a:rPr>
              <a:t>版本 01：报价需人工确认，范围待核实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95325" y="58769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 b="1">
                <a:solidFill>
                  <a:srgbClr val="BDF36D"/>
                </a:solidFill>
                <a:latin typeface="Arial"/>
                <a:ea typeface="Hiragino Sans GB"/>
              </a:rPr>
              <a:t>版本 02：跨区与目录价分别适用不同处理方式</a:t>
            </a:r>
            <a:endParaRPr lang="zh-CN"/>
          </a:p>
        </p:txBody>
      </p:sp>
      <p:sp>
        <p:nvSpPr>
          <p:cNvPr id="10" name="Text 10"/>
          <p:cNvSpPr txBox="1"/>
          <p:nvPr/>
        </p:nvSpPr>
        <p:spPr>
          <a:xfrm>
            <a:off x="695325" y="6429375"/>
            <a:ext cx="104775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所有发言均为合成材料；观点不等于事实或行动批准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514350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04 / 页面演示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952500"/>
            <a:ext cx="10477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4600" b="1">
                <a:solidFill>
                  <a:srgbClr val="EAF1EC"/>
                </a:solidFill>
                <a:latin typeface="Arial"/>
                <a:ea typeface="Hiragino Sans GB"/>
              </a:rPr>
              <a:t>点击原话，观察判断变化</a:t>
            </a:r>
            <a:endParaRPr lang="zh-CN"/>
          </a:p>
        </p:txBody>
      </p:sp>
      <p:pic>
        <p:nvPicPr>
          <p:cNvPr id="100" name="官网概念页截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81175"/>
            <a:ext cx="9239250" cy="4552950"/>
          </a:xfrm>
          <a:prstGeom prst="rect">
            <a:avLst/>
          </a:prstGeom>
          <a:ln>
            <a:solidFill>
              <a:srgbClr val="31515B"/>
            </a:solidFill>
          </a:ln>
        </p:spPr>
      </p:pic>
      <p:sp>
        <p:nvSpPr>
          <p:cNvPr id="4" name="Text 4"/>
          <p:cNvSpPr txBox="1"/>
          <p:nvPr/>
        </p:nvSpPr>
        <p:spPr>
          <a:xfrm>
            <a:off x="10115550" y="2238375"/>
            <a:ext cx="16668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200" b="1">
                <a:solidFill>
                  <a:srgbClr val="BDF36D"/>
                </a:solidFill>
                <a:latin typeface="Arial"/>
                <a:ea typeface="Hiragino Sans GB"/>
              </a:rPr>
              <a:t>合成案例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10115550" y="304800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加入第 3 段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10115550" y="346710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查看条件限定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10115550" y="428625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点开原话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10115550" y="470535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保留旧版本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66750" y="6467475"/>
            <a:ext cx="1057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网页仅为静态交互原型，不连接分析服务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05 / 今天的范围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52550"/>
            <a:ext cx="1076325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600" b="1">
                <a:solidFill>
                  <a:srgbClr val="EAF1EC"/>
                </a:solidFill>
                <a:latin typeface="Arial"/>
                <a:ea typeface="Hiragino Sans GB"/>
              </a:rPr>
              <a:t>一个项目，3–5 份短记录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95325" y="254317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首页显示关注点与判断变化；详情可点回原话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32861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新讨论可修正旧认识，不抹掉历史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402907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重复信息可以增加覆盖，但不制造新火花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95325" y="47720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真实 MVP 还需本地持久化与可阅读导出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95325" y="57435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 b="1">
                <a:solidFill>
                  <a:srgbClr val="BDF36D"/>
                </a:solidFill>
                <a:latin typeface="Arial"/>
                <a:ea typeface="Hiragino Sans GB"/>
              </a:rPr>
              <a:t>当前交付：官网概念页 + 路演 PPT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95325" y="63817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600">
                <a:solidFill>
                  <a:srgbClr val="A6B8BC"/>
                </a:solidFill>
                <a:latin typeface="Arial"/>
                <a:ea typeface="Hiragino Sans GB"/>
              </a:rPr>
              <a:t>无音频转写、OCR、多人权限、企业集成或外部任务自动执行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llision">
  <a:themeElements>
    <a:clrScheme name="Spark">
      <a:dk1>
        <a:srgbClr val="071624"/>
      </a:dk1>
      <a:lt1>
        <a:srgbClr val="FFFFFF"/>
      </a:lt1>
      <a:dk2>
        <a:srgbClr val="0D2330"/>
      </a:dk2>
      <a:lt2>
        <a:srgbClr val="F3F2E9"/>
      </a:lt2>
      <a:accent1>
        <a:srgbClr val="BDF36D"/>
      </a:accent1>
      <a:accent2>
        <a:srgbClr val="7BD9D2"/>
      </a:accent2>
      <a:accent3>
        <a:srgbClr val="A6B8BC"/>
      </a:accent3>
      <a:accent4>
        <a:srgbClr val="347C70"/>
      </a:accent4>
      <a:accent5>
        <a:srgbClr val="EAF1EC"/>
      </a:accent5>
      <a:accent6>
        <a:srgbClr val="31515B"/>
      </a:accent6>
      <a:hlink>
        <a:srgbClr val="7BD9D2"/>
      </a:hlink>
      <a:folHlink>
        <a:srgbClr val="347C70"/>
      </a:folHlink>
    </a:clrScheme>
    <a:fontScheme name="Spark">
      <a:majorFont>
        <a:latin typeface="Arial"/>
        <a:ea typeface="Hiragino Sans GB"/>
        <a:cs typeface="Arial"/>
      </a:majorFont>
      <a:minorFont>
        <a:latin typeface="Arial"/>
        <a:ea typeface="Hiragino Sans GB"/>
        <a:cs typeface="Arial"/>
      </a:minorFont>
    </a:fontScheme>
    <a:fmtScheme name="Spark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  <a:prstDash val="solid"/>
        </a:ln>
        <a:ln w="25400">
          <a:solidFill>
            <a:schemeClr val="accent2"/>
          </a:solidFill>
          <a:prstDash val="solid"/>
        </a:ln>
        <a:ln w="38100">
          <a:solidFill>
            <a:schemeClr val="accent3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
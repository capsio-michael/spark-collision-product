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homepage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704850"/>
            <a:ext cx="76200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2026 上海 Hackathon · 概念演示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952625"/>
            <a:ext cx="10477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7600" b="1">
                <a:solidFill>
                  <a:srgbClr val="EAF1EC"/>
                </a:solidFill>
                <a:latin typeface="Arial"/>
                <a:ea typeface="Hiragino Sans GB"/>
              </a:rPr>
              <a:t>智慧火花碰撞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666750" y="3009900"/>
            <a:ext cx="10477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6900" b="1">
                <a:solidFill>
                  <a:srgbClr val="BDF36D"/>
                </a:solidFill>
                <a:latin typeface="Arial"/>
                <a:ea typeface="Hiragino Sans GB"/>
              </a:rPr>
              <a:t>对话结束，认知继续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695325" y="4762500"/>
            <a:ext cx="100012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让分散的交流成为有依据、有条件、有历史的项目记忆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695325" y="5972175"/>
            <a:ext cx="95250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>
                <a:solidFill>
                  <a:srgbClr val="A6B8BC"/>
                </a:solidFill>
                <a:latin typeface="Arial"/>
                <a:ea typeface="Hiragino Sans GB"/>
              </a:rPr>
              <a:t>静态网页与合成案例 · 分析引擎尚在开发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19125"/>
            <a:ext cx="5715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01 / 场景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381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5900" b="1">
                <a:solidFill>
                  <a:srgbClr val="EAF1EC"/>
                </a:solidFill>
                <a:latin typeface="Arial"/>
                <a:ea typeface="Hiragino Sans GB"/>
              </a:rPr>
              <a:t>与 100 人交流之后，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666750" y="2171700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5900" b="1">
                <a:solidFill>
                  <a:srgbClr val="BDF36D"/>
                </a:solidFill>
                <a:latin typeface="Arial"/>
                <a:ea typeface="Hiragino Sans GB"/>
              </a:rPr>
              <a:t>我们究竟学到了什么？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685800" y="3838575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100">
                <a:solidFill>
                  <a:srgbClr val="EAF1EC"/>
                </a:solidFill>
                <a:latin typeface="Arial"/>
                <a:ea typeface="Hiragino Sans GB"/>
              </a:rPr>
              <a:t>大家真正表达的关注点是什么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685800" y="4552950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100">
                <a:solidFill>
                  <a:srgbClr val="EAF1EC"/>
                </a:solidFill>
                <a:latin typeface="Arial"/>
                <a:ea typeface="Hiragino Sans GB"/>
              </a:rPr>
              <a:t>原因与分歧分别来自哪些原话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685800" y="5267325"/>
            <a:ext cx="102870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100">
                <a:solidFill>
                  <a:srgbClr val="EAF1EC"/>
                </a:solidFill>
                <a:latin typeface="Arial"/>
                <a:ea typeface="Hiragino Sans GB"/>
              </a:rPr>
              <a:t>哪些判断因新讨论而改变了适用条件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85800" y="6296025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500">
                <a:solidFill>
                  <a:srgbClr val="A6B8BC"/>
                </a:solidFill>
                <a:latin typeface="Arial"/>
                <a:ea typeface="Hiragino Sans GB"/>
              </a:rPr>
              <a:t>“100 人”是产品使用情境示例，不代表现有用户数据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19125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02 / 工作方式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304925"/>
            <a:ext cx="1076325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4900" b="1">
                <a:solidFill>
                  <a:srgbClr val="EAF1EC"/>
                </a:solidFill>
                <a:latin typeface="Arial"/>
                <a:ea typeface="Hiragino Sans GB"/>
              </a:rPr>
              <a:t>让每次发言连接到智慧点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714375" y="2705100"/>
            <a:ext cx="36195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400" b="1">
                <a:solidFill>
                  <a:srgbClr val="BDF36D"/>
                </a:solidFill>
                <a:latin typeface="Arial"/>
                <a:ea typeface="Hiragino Sans GB"/>
              </a:rPr>
              <a:t>01  原话与来源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714375" y="3267075"/>
            <a:ext cx="97155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600">
                <a:solidFill>
                  <a:srgbClr val="A6B8BC"/>
                </a:solidFill>
                <a:latin typeface="Arial"/>
                <a:ea typeface="Hiragino Sans GB"/>
              </a:rPr>
              <a:t>保留记录、发言人、段落定位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714375" y="4038600"/>
            <a:ext cx="36195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400" b="1">
                <a:solidFill>
                  <a:srgbClr val="BDF36D"/>
                </a:solidFill>
                <a:latin typeface="Arial"/>
                <a:ea typeface="Hiragino Sans GB"/>
              </a:rPr>
              <a:t>02  关系与条件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714375" y="4600575"/>
            <a:ext cx="101917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600">
                <a:solidFill>
                  <a:srgbClr val="A6B8BC"/>
                </a:solidFill>
                <a:latin typeface="Arial"/>
                <a:ea typeface="Hiragino Sans GB"/>
              </a:rPr>
              <a:t>识别支持、质疑、反例、补充及适用场景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714375" y="5372100"/>
            <a:ext cx="3619500" cy="5238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400" b="1">
                <a:solidFill>
                  <a:srgbClr val="BDF36D"/>
                </a:solidFill>
                <a:latin typeface="Arial"/>
                <a:ea typeface="Hiragino Sans GB"/>
              </a:rPr>
              <a:t>03  判断与版本</a:t>
            </a:r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714375" y="5934075"/>
            <a:ext cx="103822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600">
                <a:solidFill>
                  <a:srgbClr val="A6B8BC"/>
                </a:solidFill>
                <a:latin typeface="Arial"/>
                <a:ea typeface="Hiragino Sans GB"/>
              </a:rPr>
              <a:t>新信息修正认识；旧版本和证据仍可查看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19125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03 / 企业应用场景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285875"/>
            <a:ext cx="106680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5100" b="1">
                <a:solidFill>
                  <a:srgbClr val="EAF1EC"/>
                </a:solidFill>
                <a:latin typeface="Arial"/>
                <a:ea typeface="Hiragino Sans GB"/>
              </a:rPr>
              <a:t>四类讨论，四种判断变化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685800" y="24955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000" b="1">
                <a:solidFill>
                  <a:srgbClr val="BDF36D"/>
                </a:solidFill>
                <a:latin typeface="Arial"/>
                <a:ea typeface="Hiragino Sans GB"/>
              </a:rPr>
              <a:t>销售报价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3028950" y="2524125"/>
            <a:ext cx="83820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800">
                <a:solidFill>
                  <a:srgbClr val="EAF1EC"/>
                </a:solidFill>
                <a:latin typeface="Arial"/>
                <a:ea typeface="Hiragino Sans GB"/>
              </a:rPr>
              <a:t>跨区与目录价的确认边界不同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685800" y="33337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000" b="1">
                <a:solidFill>
                  <a:srgbClr val="BDF36D"/>
                </a:solidFill>
                <a:latin typeface="Arial"/>
                <a:ea typeface="Hiragino Sans GB"/>
              </a:rPr>
              <a:t>客户服务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3028950" y="3362325"/>
            <a:ext cx="84772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700">
                <a:solidFill>
                  <a:srgbClr val="EAF1EC"/>
                </a:solidFill>
                <a:latin typeface="Arial"/>
                <a:ea typeface="Hiragino Sans GB"/>
              </a:rPr>
              <a:t>未发货的小额取消需与其他退款分开核实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85800" y="41719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000" b="1">
                <a:solidFill>
                  <a:srgbClr val="BDF36D"/>
                </a:solidFill>
                <a:latin typeface="Arial"/>
                <a:ea typeface="Hiragino Sans GB"/>
              </a:rPr>
              <a:t>制造质量</a:t>
            </a:r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3028950" y="4200525"/>
            <a:ext cx="84772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700">
                <a:solidFill>
                  <a:srgbClr val="EAF1EC"/>
                </a:solidFill>
                <a:latin typeface="Arial"/>
                <a:ea typeface="Hiragino Sans GB"/>
              </a:rPr>
              <a:t>换班后和高温运行时都曾报告噪音，原因待验证</a:t>
            </a:r>
            <a:endParaRPr lang="zh-CN"/>
          </a:p>
        </p:txBody>
      </p:sp>
      <p:sp>
        <p:nvSpPr>
          <p:cNvPr id="10" name="Text 10"/>
          <p:cNvSpPr txBox="1"/>
          <p:nvPr/>
        </p:nvSpPr>
        <p:spPr>
          <a:xfrm>
            <a:off x="685800" y="5010150"/>
            <a:ext cx="219075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3000" b="1">
                <a:solidFill>
                  <a:srgbClr val="BDF36D"/>
                </a:solidFill>
                <a:latin typeface="Arial"/>
                <a:ea typeface="Hiragino Sans GB"/>
              </a:rPr>
              <a:t>员工入职</a:t>
            </a:r>
            <a:endParaRPr lang="zh-CN"/>
          </a:p>
        </p:txBody>
      </p:sp>
      <p:sp>
        <p:nvSpPr>
          <p:cNvPr id="11" name="Text 11"/>
          <p:cNvSpPr txBox="1"/>
          <p:nvPr/>
        </p:nvSpPr>
        <p:spPr>
          <a:xfrm>
            <a:off x="3028950" y="5038725"/>
            <a:ext cx="847725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700">
                <a:solidFill>
                  <a:srgbClr val="EAF1EC"/>
                </a:solidFill>
                <a:latin typeface="Arial"/>
                <a:ea typeface="Hiragino Sans GB"/>
              </a:rPr>
              <a:t>重复流程问题可试自助，角色判断仍需导师</a:t>
            </a:r>
            <a:endParaRPr lang="zh-CN"/>
          </a:p>
        </p:txBody>
      </p:sp>
      <p:sp>
        <p:nvSpPr>
          <p:cNvPr id="12" name="Text 12"/>
          <p:cNvSpPr txBox="1"/>
          <p:nvPr/>
        </p:nvSpPr>
        <p:spPr>
          <a:xfrm>
            <a:off x="695325" y="6324600"/>
            <a:ext cx="104775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600">
                <a:solidFill>
                  <a:srgbClr val="A6B8BC"/>
                </a:solidFill>
                <a:latin typeface="Arial"/>
                <a:ea typeface="Hiragino Sans GB"/>
              </a:rPr>
              <a:t>全部为合成场景，不代表客户结果或已批准的企业规则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19125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04 / 合成案例详解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266825"/>
            <a:ext cx="10668000" cy="714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5300" b="1">
                <a:solidFill>
                  <a:srgbClr val="EAF1EC"/>
                </a:solidFill>
                <a:latin typeface="Arial"/>
                <a:ea typeface="Hiragino Sans GB"/>
              </a:rPr>
              <a:t>同一话题，不同条件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695325" y="240030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R1  “报价需要人工确认”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695325" y="313372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R2  “跨区报价需要销售确认”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695325" y="3867150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R3  “目录价且无折扣，可直接发送”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695325" y="4991100"/>
            <a:ext cx="3048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400" b="1">
                <a:solidFill>
                  <a:srgbClr val="7BD9D2"/>
                </a:solidFill>
                <a:latin typeface="Arial"/>
                <a:ea typeface="Hiragino Sans GB"/>
              </a:rPr>
              <a:t>判断变化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95325" y="541972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400">
                <a:solidFill>
                  <a:srgbClr val="A6B8BC"/>
                </a:solidFill>
                <a:latin typeface="Arial"/>
                <a:ea typeface="Hiragino Sans GB"/>
              </a:rPr>
              <a:t>版本 01：报价需人工确认，范围待核实</a:t>
            </a:r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695325" y="5876925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400" b="1">
                <a:solidFill>
                  <a:srgbClr val="BDF36D"/>
                </a:solidFill>
                <a:latin typeface="Arial"/>
                <a:ea typeface="Hiragino Sans GB"/>
              </a:rPr>
              <a:t>版本 02：跨区与目录价分别适用不同处理方式</a:t>
            </a:r>
            <a:endParaRPr lang="zh-CN"/>
          </a:p>
        </p:txBody>
      </p:sp>
      <p:sp>
        <p:nvSpPr>
          <p:cNvPr id="10" name="Text 10"/>
          <p:cNvSpPr txBox="1"/>
          <p:nvPr/>
        </p:nvSpPr>
        <p:spPr>
          <a:xfrm>
            <a:off x="695325" y="6429375"/>
            <a:ext cx="1047750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500">
                <a:solidFill>
                  <a:srgbClr val="A6B8BC"/>
                </a:solidFill>
                <a:latin typeface="Arial"/>
                <a:ea typeface="Hiragino Sans GB"/>
              </a:rPr>
              <a:t>所有发言均为合成材料；观点不等于事实或行动批准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514350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05 / 页面演示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952500"/>
            <a:ext cx="10477500" cy="619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4600" b="1">
                <a:solidFill>
                  <a:srgbClr val="EAF1EC"/>
                </a:solidFill>
                <a:latin typeface="Arial"/>
                <a:ea typeface="Hiragino Sans GB"/>
              </a:rPr>
              <a:t>点击原话，观察判断变化</a:t>
            </a:r>
            <a:endParaRPr lang="zh-CN"/>
          </a:p>
        </p:txBody>
      </p:sp>
      <p:pic>
        <p:nvPicPr>
          <p:cNvPr id="100" name="官网概念页截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781175"/>
            <a:ext cx="9239250" cy="4552950"/>
          </a:xfrm>
          <a:prstGeom prst="rect">
            <a:avLst/>
          </a:prstGeom>
          <a:ln>
            <a:solidFill>
              <a:srgbClr val="31515B"/>
            </a:solidFill>
          </a:ln>
        </p:spPr>
      </p:pic>
      <p:sp>
        <p:nvSpPr>
          <p:cNvPr id="4" name="Text 4"/>
          <p:cNvSpPr txBox="1"/>
          <p:nvPr/>
        </p:nvSpPr>
        <p:spPr>
          <a:xfrm>
            <a:off x="10115550" y="2238375"/>
            <a:ext cx="16668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200" b="1">
                <a:solidFill>
                  <a:srgbClr val="BDF36D"/>
                </a:solidFill>
                <a:latin typeface="Arial"/>
                <a:ea typeface="Hiragino Sans GB"/>
              </a:rPr>
              <a:t>合成案例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10115550" y="3048000"/>
            <a:ext cx="1762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000">
                <a:solidFill>
                  <a:srgbClr val="EAF1EC"/>
                </a:solidFill>
                <a:latin typeface="Arial"/>
                <a:ea typeface="Hiragino Sans GB"/>
              </a:rPr>
              <a:t>加入第 3 段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10115550" y="3467100"/>
            <a:ext cx="1762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000">
                <a:solidFill>
                  <a:srgbClr val="EAF1EC"/>
                </a:solidFill>
                <a:latin typeface="Arial"/>
                <a:ea typeface="Hiragino Sans GB"/>
              </a:rPr>
              <a:t>查看条件限定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10115550" y="4286250"/>
            <a:ext cx="1762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000">
                <a:solidFill>
                  <a:srgbClr val="EAF1EC"/>
                </a:solidFill>
                <a:latin typeface="Arial"/>
                <a:ea typeface="Hiragino Sans GB"/>
              </a:rPr>
              <a:t>点开原话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10115550" y="4705350"/>
            <a:ext cx="1762125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000">
                <a:solidFill>
                  <a:srgbClr val="EAF1EC"/>
                </a:solidFill>
                <a:latin typeface="Arial"/>
                <a:ea typeface="Hiragino Sans GB"/>
              </a:rPr>
              <a:t>保留旧版本</a:t>
            </a:r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666750" y="6467475"/>
            <a:ext cx="10572750" cy="2095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500">
                <a:solidFill>
                  <a:srgbClr val="A6B8BC"/>
                </a:solidFill>
                <a:latin typeface="Arial"/>
                <a:ea typeface="Hiragino Sans GB"/>
              </a:rPr>
              <a:t>网页仅为静态交互原型，不连接分析服务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6750" y="619125"/>
            <a:ext cx="61912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800" b="1">
                <a:solidFill>
                  <a:srgbClr val="7BD9D2"/>
                </a:solidFill>
                <a:latin typeface="Arial"/>
                <a:ea typeface="Hiragino Sans GB"/>
              </a:rPr>
              <a:t>06 / 今天的范围</a:t>
            </a:r>
            <a:endParaRPr lang="zh-CN"/>
          </a:p>
        </p:txBody>
      </p:sp>
      <p:sp>
        <p:nvSpPr>
          <p:cNvPr id="3" name="Text 3"/>
          <p:cNvSpPr txBox="1"/>
          <p:nvPr/>
        </p:nvSpPr>
        <p:spPr>
          <a:xfrm>
            <a:off x="666750" y="1352550"/>
            <a:ext cx="1076325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5600" b="1">
                <a:solidFill>
                  <a:srgbClr val="EAF1EC"/>
                </a:solidFill>
                <a:latin typeface="Arial"/>
                <a:ea typeface="Hiragino Sans GB"/>
              </a:rPr>
              <a:t>一个项目，3–5 份短记录</a:t>
            </a:r>
            <a:endParaRPr lang="zh-CN"/>
          </a:p>
        </p:txBody>
      </p:sp>
      <p:sp>
        <p:nvSpPr>
          <p:cNvPr id="4" name="Text 4"/>
          <p:cNvSpPr txBox="1"/>
          <p:nvPr/>
        </p:nvSpPr>
        <p:spPr>
          <a:xfrm>
            <a:off x="695325" y="254317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首页显示关注点与判断变化；详情可点回原话</a:t>
            </a:r>
            <a:endParaRPr lang="zh-CN"/>
          </a:p>
        </p:txBody>
      </p:sp>
      <p:sp>
        <p:nvSpPr>
          <p:cNvPr id="5" name="Text 5"/>
          <p:cNvSpPr txBox="1"/>
          <p:nvPr/>
        </p:nvSpPr>
        <p:spPr>
          <a:xfrm>
            <a:off x="695325" y="328612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新讨论可修正旧认识，不抹掉历史</a:t>
            </a:r>
            <a:endParaRPr lang="zh-CN"/>
          </a:p>
        </p:txBody>
      </p:sp>
      <p:sp>
        <p:nvSpPr>
          <p:cNvPr id="6" name="Text 6"/>
          <p:cNvSpPr txBox="1"/>
          <p:nvPr/>
        </p:nvSpPr>
        <p:spPr>
          <a:xfrm>
            <a:off x="695325" y="402907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重复信息可以增加覆盖，但不制造新火花</a:t>
            </a:r>
            <a:endParaRPr lang="zh-CN"/>
          </a:p>
        </p:txBody>
      </p:sp>
      <p:sp>
        <p:nvSpPr>
          <p:cNvPr id="7" name="Text 7"/>
          <p:cNvSpPr txBox="1"/>
          <p:nvPr/>
        </p:nvSpPr>
        <p:spPr>
          <a:xfrm>
            <a:off x="695325" y="4772025"/>
            <a:ext cx="106680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900">
                <a:solidFill>
                  <a:srgbClr val="EAF1EC"/>
                </a:solidFill>
                <a:latin typeface="Arial"/>
                <a:ea typeface="Hiragino Sans GB"/>
              </a:rPr>
              <a:t>真实 MVP 还需本地持久化与可阅读导出</a:t>
            </a:r>
            <a:endParaRPr lang="zh-CN"/>
          </a:p>
        </p:txBody>
      </p:sp>
      <p:sp>
        <p:nvSpPr>
          <p:cNvPr id="8" name="Text 8"/>
          <p:cNvSpPr txBox="1"/>
          <p:nvPr/>
        </p:nvSpPr>
        <p:spPr>
          <a:xfrm>
            <a:off x="695325" y="5743575"/>
            <a:ext cx="106680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2600" b="1">
                <a:solidFill>
                  <a:srgbClr val="BDF36D"/>
                </a:solidFill>
                <a:latin typeface="Arial"/>
                <a:ea typeface="Hiragino Sans GB"/>
              </a:rPr>
              <a:t>当前交付：官网概念页 + 路演 PPT</a:t>
            </a:r>
            <a:endParaRPr lang="zh-CN"/>
          </a:p>
        </p:txBody>
      </p:sp>
      <p:sp>
        <p:nvSpPr>
          <p:cNvPr id="9" name="Text 9"/>
          <p:cNvSpPr txBox="1"/>
          <p:nvPr/>
        </p:nvSpPr>
        <p:spPr>
          <a:xfrm>
            <a:off x="695325" y="6381750"/>
            <a:ext cx="10668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rmAutofit/>
          </a:bodyPr>
          <a:lstStyle/>
          <a:p>
            <a:pPr algn="l"/>
            <a:r>
              <a:rPr lang="zh-CN" sz="1600">
                <a:solidFill>
                  <a:srgbClr val="A6B8BC"/>
                </a:solidFill>
                <a:latin typeface="Arial"/>
                <a:ea typeface="Hiragino Sans GB"/>
              </a:rPr>
              <a:t>无音频转写、OCR、多人权限、企业集成或外部任务自动执行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ark Collision">
  <a:themeElements>
    <a:clrScheme name="Spark">
      <a:dk1>
        <a:srgbClr val="071624"/>
      </a:dk1>
      <a:lt1>
        <a:srgbClr val="FFFFFF"/>
      </a:lt1>
      <a:dk2>
        <a:srgbClr val="0D2330"/>
      </a:dk2>
      <a:lt2>
        <a:srgbClr val="F3F2E9"/>
      </a:lt2>
      <a:accent1>
        <a:srgbClr val="BDF36D"/>
      </a:accent1>
      <a:accent2>
        <a:srgbClr val="7BD9D2"/>
      </a:accent2>
      <a:accent3>
        <a:srgbClr val="A6B8BC"/>
      </a:accent3>
      <a:accent4>
        <a:srgbClr val="347C70"/>
      </a:accent4>
      <a:accent5>
        <a:srgbClr val="EAF1EC"/>
      </a:accent5>
      <a:accent6>
        <a:srgbClr val="31515B"/>
      </a:accent6>
      <a:hlink>
        <a:srgbClr val="7BD9D2"/>
      </a:hlink>
      <a:folHlink>
        <a:srgbClr val="347C70"/>
      </a:folHlink>
    </a:clrScheme>
    <a:fontScheme name="Spark">
      <a:majorFont>
        <a:latin typeface="Arial"/>
        <a:ea typeface="Hiragino Sans GB"/>
        <a:cs typeface="Arial"/>
      </a:majorFont>
      <a:minorFont>
        <a:latin typeface="Arial"/>
        <a:ea typeface="Hiragino Sans GB"/>
        <a:cs typeface="Arial"/>
      </a:minorFont>
    </a:fontScheme>
    <a:fmtScheme name="Spark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  <a:prstDash val="solid"/>
        </a:ln>
        <a:ln w="25400">
          <a:solidFill>
            <a:schemeClr val="accent2"/>
          </a:solidFill>
          <a:prstDash val="solid"/>
        </a:ln>
        <a:ln w="38100">
          <a:solidFill>
            <a:schemeClr val="accent3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dk1"/>
        </a:solidFill>
        <a:solidFill>
          <a:schemeClr val="dk2"/>
        </a:solidFill>
        <a:solidFill>
          <a:schemeClr val="lt1"/>
        </a:solidFill>
      </a:bgFillStyleLst>
    </a:fmtScheme>
  </a:themeElements>
  <a:objectDefaults/>
  <a:extraClrSchemeLst/>
</a:theme>
</file>